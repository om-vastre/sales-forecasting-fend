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62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B9E93-1E23-4AAF-8F2E-E5322F69EE67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61DD-1BE3-48E2-BB42-B4EB9C512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426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B9E93-1E23-4AAF-8F2E-E5322F69EE67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61DD-1BE3-48E2-BB42-B4EB9C512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130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B9E93-1E23-4AAF-8F2E-E5322F69EE67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61DD-1BE3-48E2-BB42-B4EB9C512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666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B9E93-1E23-4AAF-8F2E-E5322F69EE67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61DD-1BE3-48E2-BB42-B4EB9C512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662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B9E93-1E23-4AAF-8F2E-E5322F69EE67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61DD-1BE3-48E2-BB42-B4EB9C512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234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B9E93-1E23-4AAF-8F2E-E5322F69EE67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61DD-1BE3-48E2-BB42-B4EB9C512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807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B9E93-1E23-4AAF-8F2E-E5322F69EE67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61DD-1BE3-48E2-BB42-B4EB9C512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811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B9E93-1E23-4AAF-8F2E-E5322F69EE67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61DD-1BE3-48E2-BB42-B4EB9C512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001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B9E93-1E23-4AAF-8F2E-E5322F69EE67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61DD-1BE3-48E2-BB42-B4EB9C512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202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B9E93-1E23-4AAF-8F2E-E5322F69EE67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61DD-1BE3-48E2-BB42-B4EB9C512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383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B9E93-1E23-4AAF-8F2E-E5322F69EE67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261DD-1BE3-48E2-BB42-B4EB9C512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00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B9E93-1E23-4AAF-8F2E-E5322F69EE67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261DD-1BE3-48E2-BB42-B4EB9C512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63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EB3C93D4-4D6A-BFA7-86D8-2CC84F446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02D0202E-6FF1-465A-D99E-472C2230ACC6}"/>
              </a:ext>
            </a:extLst>
          </p:cNvPr>
          <p:cNvSpPr/>
          <p:nvPr/>
        </p:nvSpPr>
        <p:spPr>
          <a:xfrm>
            <a:off x="6280190" y="2481739"/>
            <a:ext cx="72091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Sales Forecasting System</a:t>
            </a:r>
            <a:endParaRPr lang="en-US" sz="445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059E15B3-D47D-FA5F-2614-09171258C374}"/>
              </a:ext>
            </a:extLst>
          </p:cNvPr>
          <p:cNvSpPr/>
          <p:nvPr/>
        </p:nvSpPr>
        <p:spPr>
          <a:xfrm>
            <a:off x="6280190" y="353067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Academic Project Presentation</a:t>
            </a:r>
            <a:endParaRPr lang="en-US" sz="175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3612BC76-BE0A-EA85-D327-82A50FDA6B95}"/>
              </a:ext>
            </a:extLst>
          </p:cNvPr>
          <p:cNvSpPr/>
          <p:nvPr/>
        </p:nvSpPr>
        <p:spPr>
          <a:xfrm>
            <a:off x="6280190" y="414873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Bhagat Poonam, Tekale Pranjal, Pawar Akanksha, Tupe Manisha</a:t>
            </a:r>
            <a:endParaRPr lang="en-US" sz="175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4FDFBCCC-43C0-BAD0-678B-0F0EE842DD81}"/>
              </a:ext>
            </a:extLst>
          </p:cNvPr>
          <p:cNvSpPr/>
          <p:nvPr/>
        </p:nvSpPr>
        <p:spPr>
          <a:xfrm>
            <a:off x="6280190" y="47667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Parikram College of Engineering, Kashti</a:t>
            </a:r>
            <a:endParaRPr lang="en-US" sz="175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14364D03-113D-190E-F80A-E5CCD70DBF67}"/>
              </a:ext>
            </a:extLst>
          </p:cNvPr>
          <p:cNvSpPr/>
          <p:nvPr/>
        </p:nvSpPr>
        <p:spPr>
          <a:xfrm>
            <a:off x="6280190" y="538484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June 2025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241800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938C0-B0C5-4013-E7E6-9317E230E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FCC9815-1321-86F9-0EED-F3DA0B84D3BC}"/>
              </a:ext>
            </a:extLst>
          </p:cNvPr>
          <p:cNvSpPr/>
          <p:nvPr/>
        </p:nvSpPr>
        <p:spPr>
          <a:xfrm>
            <a:off x="793790" y="16943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Agenda</a:t>
            </a:r>
            <a:endParaRPr lang="en-US" sz="44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FAD6359-E8F1-075E-C2D9-18C81F0A3469}"/>
              </a:ext>
            </a:extLst>
          </p:cNvPr>
          <p:cNvSpPr/>
          <p:nvPr/>
        </p:nvSpPr>
        <p:spPr>
          <a:xfrm>
            <a:off x="793790" y="285678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0AEDD89-EB63-3266-5DF7-FB419D4BBEED}"/>
              </a:ext>
            </a:extLst>
          </p:cNvPr>
          <p:cNvSpPr/>
          <p:nvPr/>
        </p:nvSpPr>
        <p:spPr>
          <a:xfrm>
            <a:off x="878860" y="289929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430BF5B-1B29-9927-D6D5-95AE20A716E9}"/>
              </a:ext>
            </a:extLst>
          </p:cNvPr>
          <p:cNvSpPr/>
          <p:nvPr/>
        </p:nvSpPr>
        <p:spPr>
          <a:xfrm>
            <a:off x="1530906" y="2934653"/>
            <a:ext cx="38663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Introduction &amp; Motivation</a:t>
            </a:r>
            <a:endParaRPr lang="en-US" sz="2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5D2E675-27B4-CD30-00D1-F764F04E94BF}"/>
              </a:ext>
            </a:extLst>
          </p:cNvPr>
          <p:cNvSpPr/>
          <p:nvPr/>
        </p:nvSpPr>
        <p:spPr>
          <a:xfrm>
            <a:off x="7457003" y="285678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E1E8389-D29D-382B-B3FA-026294816464}"/>
              </a:ext>
            </a:extLst>
          </p:cNvPr>
          <p:cNvSpPr/>
          <p:nvPr/>
        </p:nvSpPr>
        <p:spPr>
          <a:xfrm>
            <a:off x="7542074" y="289929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2AE76CD-6C82-827B-32B8-DA070C3AC39B}"/>
              </a:ext>
            </a:extLst>
          </p:cNvPr>
          <p:cNvSpPr/>
          <p:nvPr/>
        </p:nvSpPr>
        <p:spPr>
          <a:xfrm>
            <a:off x="8194119" y="2934653"/>
            <a:ext cx="51180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Source &amp; Feature Engineering</a:t>
            </a:r>
            <a:endParaRPr lang="en-US" sz="2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9EBE975-6065-C4D7-9E3C-4E3C36177CB4}"/>
              </a:ext>
            </a:extLst>
          </p:cNvPr>
          <p:cNvSpPr/>
          <p:nvPr/>
        </p:nvSpPr>
        <p:spPr>
          <a:xfrm>
            <a:off x="793790" y="382071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01D24BC-6BB1-A8BC-38AA-CE857B643825}"/>
              </a:ext>
            </a:extLst>
          </p:cNvPr>
          <p:cNvSpPr/>
          <p:nvPr/>
        </p:nvSpPr>
        <p:spPr>
          <a:xfrm>
            <a:off x="878860" y="386322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F9D79A7-626B-D24C-CA65-0BE4EAAE90F3}"/>
              </a:ext>
            </a:extLst>
          </p:cNvPr>
          <p:cNvSpPr/>
          <p:nvPr/>
        </p:nvSpPr>
        <p:spPr>
          <a:xfrm>
            <a:off x="1530906" y="3898582"/>
            <a:ext cx="47589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Modeling Approach &amp; Validation</a:t>
            </a:r>
            <a:endParaRPr lang="en-US" sz="2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C88127A-DE73-7D2B-EF4B-A5226BDF1784}"/>
              </a:ext>
            </a:extLst>
          </p:cNvPr>
          <p:cNvSpPr/>
          <p:nvPr/>
        </p:nvSpPr>
        <p:spPr>
          <a:xfrm>
            <a:off x="7457003" y="382071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C448071-7AD5-7641-5FF5-CF5CA71E1022}"/>
              </a:ext>
            </a:extLst>
          </p:cNvPr>
          <p:cNvSpPr/>
          <p:nvPr/>
        </p:nvSpPr>
        <p:spPr>
          <a:xfrm>
            <a:off x="7542074" y="386322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6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A7E29D1-62FB-6CDA-66C3-F50363529EAD}"/>
              </a:ext>
            </a:extLst>
          </p:cNvPr>
          <p:cNvSpPr/>
          <p:nvPr/>
        </p:nvSpPr>
        <p:spPr>
          <a:xfrm>
            <a:off x="8194119" y="3898582"/>
            <a:ext cx="56426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Architecture &amp; Implementation</a:t>
            </a:r>
            <a:endParaRPr lang="en-US" sz="22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57C5651-E3CC-CA42-F413-7BA574B48CBE}"/>
              </a:ext>
            </a:extLst>
          </p:cNvPr>
          <p:cNvSpPr/>
          <p:nvPr/>
        </p:nvSpPr>
        <p:spPr>
          <a:xfrm>
            <a:off x="793790" y="506087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F3264E-077B-528D-CDDC-0ACE75A61EC4}"/>
              </a:ext>
            </a:extLst>
          </p:cNvPr>
          <p:cNvSpPr/>
          <p:nvPr/>
        </p:nvSpPr>
        <p:spPr>
          <a:xfrm>
            <a:off x="878860" y="510337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6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EB404D8-6454-0F28-70E7-B4C0C9EB6557}"/>
              </a:ext>
            </a:extLst>
          </p:cNvPr>
          <p:cNvSpPr/>
          <p:nvPr/>
        </p:nvSpPr>
        <p:spPr>
          <a:xfrm>
            <a:off x="1530906" y="5138738"/>
            <a:ext cx="30833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Mobile App Interface</a:t>
            </a:r>
            <a:endParaRPr lang="en-US" sz="2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523F084-B617-06D4-98F1-FAD31A781C3F}"/>
              </a:ext>
            </a:extLst>
          </p:cNvPr>
          <p:cNvSpPr/>
          <p:nvPr/>
        </p:nvSpPr>
        <p:spPr>
          <a:xfrm>
            <a:off x="7457003" y="506087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06DE028-BCB5-E29E-BEB2-FB09F0F7E4A9}"/>
              </a:ext>
            </a:extLst>
          </p:cNvPr>
          <p:cNvSpPr/>
          <p:nvPr/>
        </p:nvSpPr>
        <p:spPr>
          <a:xfrm>
            <a:off x="7542074" y="510337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</a:t>
            </a:r>
            <a:endParaRPr lang="en-US" sz="26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83B82BA-C918-5229-74FE-913898611690}"/>
              </a:ext>
            </a:extLst>
          </p:cNvPr>
          <p:cNvSpPr/>
          <p:nvPr/>
        </p:nvSpPr>
        <p:spPr>
          <a:xfrm>
            <a:off x="8194119" y="5138738"/>
            <a:ext cx="44946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Results &amp; Performance Metrics</a:t>
            </a:r>
            <a:endParaRPr lang="en-US" sz="2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63F8E2C-8A5C-7708-0D18-87AD67901933}"/>
              </a:ext>
            </a:extLst>
          </p:cNvPr>
          <p:cNvSpPr/>
          <p:nvPr/>
        </p:nvSpPr>
        <p:spPr>
          <a:xfrm>
            <a:off x="793790" y="602480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4274317-FBE2-7427-ABC2-6B94050A75C4}"/>
              </a:ext>
            </a:extLst>
          </p:cNvPr>
          <p:cNvSpPr/>
          <p:nvPr/>
        </p:nvSpPr>
        <p:spPr>
          <a:xfrm>
            <a:off x="878860" y="606730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</a:t>
            </a:r>
            <a:endParaRPr lang="en-US" sz="26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835C8EA-1700-3DD8-9289-F0E8F20EB057}"/>
              </a:ext>
            </a:extLst>
          </p:cNvPr>
          <p:cNvSpPr/>
          <p:nvPr/>
        </p:nvSpPr>
        <p:spPr>
          <a:xfrm>
            <a:off x="1530906" y="6102668"/>
            <a:ext cx="40346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Conclusions &amp; Future Work</a:t>
            </a:r>
            <a:endParaRPr lang="en-US" sz="22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1B2D262-BFD1-10A1-DC52-AF4519428B53}"/>
              </a:ext>
            </a:extLst>
          </p:cNvPr>
          <p:cNvSpPr/>
          <p:nvPr/>
        </p:nvSpPr>
        <p:spPr>
          <a:xfrm>
            <a:off x="7457003" y="602480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F5E9128-61DD-05A0-C720-56285797A30A}"/>
              </a:ext>
            </a:extLst>
          </p:cNvPr>
          <p:cNvSpPr/>
          <p:nvPr/>
        </p:nvSpPr>
        <p:spPr>
          <a:xfrm>
            <a:off x="7542074" y="606730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</a:t>
            </a:r>
            <a:endParaRPr lang="en-US" sz="26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FAD7A27-14D6-A745-BB2C-742CC25774AD}"/>
              </a:ext>
            </a:extLst>
          </p:cNvPr>
          <p:cNvSpPr/>
          <p:nvPr/>
        </p:nvSpPr>
        <p:spPr>
          <a:xfrm>
            <a:off x="8194119" y="61026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Q&amp;A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829611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BB95A-FFF0-1E79-6060-563A6A9E1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9646A0-7DCA-612D-F1A9-CC08A597DD8A}"/>
              </a:ext>
            </a:extLst>
          </p:cNvPr>
          <p:cNvSpPr/>
          <p:nvPr/>
        </p:nvSpPr>
        <p:spPr>
          <a:xfrm>
            <a:off x="793790" y="2381250"/>
            <a:ext cx="77358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Introduction &amp; Motivation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1923487-C4F7-44A7-9362-57A63FB0918B}"/>
              </a:ext>
            </a:extLst>
          </p:cNvPr>
          <p:cNvSpPr/>
          <p:nvPr/>
        </p:nvSpPr>
        <p:spPr>
          <a:xfrm>
            <a:off x="793790" y="3657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Objective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CA53824-CB3E-2A47-3F73-E0D448238470}"/>
              </a:ext>
            </a:extLst>
          </p:cNvPr>
          <p:cNvSpPr/>
          <p:nvPr/>
        </p:nvSpPr>
        <p:spPr>
          <a:xfrm>
            <a:off x="793790" y="423814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 7-day and 30-day retail sales per SKU.</a:t>
            </a:r>
            <a:endParaRPr lang="en-US" sz="1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7A30E02-4701-7CC0-F2C4-2586280C71D5}"/>
              </a:ext>
            </a:extLst>
          </p:cNvPr>
          <p:cNvSpPr/>
          <p:nvPr/>
        </p:nvSpPr>
        <p:spPr>
          <a:xfrm>
            <a:off x="793790" y="504324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 inventory, promotions, resource allocation.</a:t>
            </a:r>
            <a:endParaRPr lang="en-US" sz="1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D99356C-D465-A49C-C019-ACA4983E670D}"/>
              </a:ext>
            </a:extLst>
          </p:cNvPr>
          <p:cNvSpPr/>
          <p:nvPr/>
        </p:nvSpPr>
        <p:spPr>
          <a:xfrm>
            <a:off x="5332928" y="3657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Need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9AC2B55-6C6A-274A-DF92-5CB897AB1FB9}"/>
              </a:ext>
            </a:extLst>
          </p:cNvPr>
          <p:cNvSpPr/>
          <p:nvPr/>
        </p:nvSpPr>
        <p:spPr>
          <a:xfrm>
            <a:off x="5332928" y="423814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stockouts and overstocking costs.</a:t>
            </a:r>
            <a:endParaRPr lang="en-US" sz="17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88EE120-BE2D-895E-F420-63145C467A94}"/>
              </a:ext>
            </a:extLst>
          </p:cNvPr>
          <p:cNvSpPr/>
          <p:nvPr/>
        </p:nvSpPr>
        <p:spPr>
          <a:xfrm>
            <a:off x="5332928" y="504324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data-driven pricing and promotions.</a:t>
            </a:r>
            <a:endParaRPr lang="en-US" sz="17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8EAB152-3460-742A-AB13-653F27673D76}"/>
              </a:ext>
            </a:extLst>
          </p:cNvPr>
          <p:cNvSpPr/>
          <p:nvPr/>
        </p:nvSpPr>
        <p:spPr>
          <a:xfrm>
            <a:off x="9872067" y="3657005"/>
            <a:ext cx="29816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Academic Relevance</a:t>
            </a:r>
            <a:endParaRPr lang="en-US" sz="2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C75B56F-F0A9-BE7C-9D1A-9DD518DCE8E3}"/>
              </a:ext>
            </a:extLst>
          </p:cNvPr>
          <p:cNvSpPr/>
          <p:nvPr/>
        </p:nvSpPr>
        <p:spPr>
          <a:xfrm>
            <a:off x="9872067" y="423814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Time-series feature engineering, gradient boosting.</a:t>
            </a:r>
            <a:endParaRPr lang="en-US" sz="17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77EE4C0-AC43-9A98-45E0-9F472B26000A}"/>
              </a:ext>
            </a:extLst>
          </p:cNvPr>
          <p:cNvSpPr/>
          <p:nvPr/>
        </p:nvSpPr>
        <p:spPr>
          <a:xfrm>
            <a:off x="9872067" y="504324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pipeline from data to mobile.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713750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A832D-7B76-C573-E0C6-E1E84CF8B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E3D1CD8-E637-EF94-56D7-C60ACC391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C0BE447-24AE-4E2B-F419-53E4C08194FD}"/>
              </a:ext>
            </a:extLst>
          </p:cNvPr>
          <p:cNvSpPr/>
          <p:nvPr/>
        </p:nvSpPr>
        <p:spPr>
          <a:xfrm>
            <a:off x="6280190" y="9536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Source &amp; Feature Engineering</a:t>
            </a:r>
            <a:endParaRPr lang="en-US" sz="445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C707739-3585-D7B4-FF46-F19763B6492D}"/>
              </a:ext>
            </a:extLst>
          </p:cNvPr>
          <p:cNvSpPr/>
          <p:nvPr/>
        </p:nvSpPr>
        <p:spPr>
          <a:xfrm>
            <a:off x="6280190" y="2711410"/>
            <a:ext cx="3664863" cy="2531745"/>
          </a:xfrm>
          <a:prstGeom prst="roundRect">
            <a:avLst>
              <a:gd name="adj" fmla="val 1344"/>
            </a:avLst>
          </a:prstGeom>
          <a:solidFill>
            <a:srgbClr val="EAE8F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4DD7F4F-A07C-8D02-D2E9-ACCEE92FF55A}"/>
              </a:ext>
            </a:extLst>
          </p:cNvPr>
          <p:cNvSpPr/>
          <p:nvPr/>
        </p:nvSpPr>
        <p:spPr>
          <a:xfrm>
            <a:off x="6507004" y="29382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Overview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0C82F03-3226-203F-2858-5EC4B848FC9D}"/>
              </a:ext>
            </a:extLst>
          </p:cNvPr>
          <p:cNvSpPr/>
          <p:nvPr/>
        </p:nvSpPr>
        <p:spPr>
          <a:xfrm>
            <a:off x="6507004" y="3428643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 years of daily retail transactions.</a:t>
            </a:r>
            <a:endParaRPr lang="en-US" sz="17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048A71E-24B1-0C3B-3FF1-359C2AF0BED9}"/>
              </a:ext>
            </a:extLst>
          </p:cNvPr>
          <p:cNvSpPr/>
          <p:nvPr/>
        </p:nvSpPr>
        <p:spPr>
          <a:xfrm>
            <a:off x="6507004" y="4290536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SKUs × 4 regions; 14,620 rows.</a:t>
            </a:r>
            <a:endParaRPr lang="en-US" sz="17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54AE898-1A3E-EB79-FC5C-9C03B08F66B9}"/>
              </a:ext>
            </a:extLst>
          </p:cNvPr>
          <p:cNvSpPr/>
          <p:nvPr/>
        </p:nvSpPr>
        <p:spPr>
          <a:xfrm>
            <a:off x="10171867" y="2711410"/>
            <a:ext cx="3664863" cy="2531745"/>
          </a:xfrm>
          <a:prstGeom prst="roundRect">
            <a:avLst>
              <a:gd name="adj" fmla="val 1344"/>
            </a:avLst>
          </a:prstGeom>
          <a:solidFill>
            <a:srgbClr val="EAE8F3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76955A2-B23B-EA4C-EA37-6CE32CB5B49B}"/>
              </a:ext>
            </a:extLst>
          </p:cNvPr>
          <p:cNvSpPr/>
          <p:nvPr/>
        </p:nvSpPr>
        <p:spPr>
          <a:xfrm>
            <a:off x="10398681" y="29382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Cleaning Steps</a:t>
            </a:r>
            <a:endParaRPr lang="en-US" sz="2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34F2D15-1532-F1F1-304F-F87A412ECEA9}"/>
              </a:ext>
            </a:extLst>
          </p:cNvPr>
          <p:cNvSpPr/>
          <p:nvPr/>
        </p:nvSpPr>
        <p:spPr>
          <a:xfrm>
            <a:off x="10398681" y="3428643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Schema validation, type enforcement.</a:t>
            </a:r>
            <a:endParaRPr lang="en-US" sz="17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F6D596F-9AF8-38D5-50AE-B9B7CA3B0521}"/>
              </a:ext>
            </a:extLst>
          </p:cNvPr>
          <p:cNvSpPr/>
          <p:nvPr/>
        </p:nvSpPr>
        <p:spPr>
          <a:xfrm>
            <a:off x="10398681" y="4290536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Categorical domain checks.</a:t>
            </a:r>
            <a:endParaRPr lang="en-US" sz="17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4AC21BD0-4A42-9BB5-EE18-2A4A6EC89FFC}"/>
              </a:ext>
            </a:extLst>
          </p:cNvPr>
          <p:cNvSpPr/>
          <p:nvPr/>
        </p:nvSpPr>
        <p:spPr>
          <a:xfrm>
            <a:off x="6280190" y="5469969"/>
            <a:ext cx="7556421" cy="1805940"/>
          </a:xfrm>
          <a:prstGeom prst="roundRect">
            <a:avLst>
              <a:gd name="adj" fmla="val 1884"/>
            </a:avLst>
          </a:prstGeom>
          <a:solidFill>
            <a:srgbClr val="EAE8F3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856D238-03F1-E6E4-8479-34C53A9531B8}"/>
              </a:ext>
            </a:extLst>
          </p:cNvPr>
          <p:cNvSpPr/>
          <p:nvPr/>
        </p:nvSpPr>
        <p:spPr>
          <a:xfrm>
            <a:off x="6507004" y="5696783"/>
            <a:ext cx="29720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Engineered Features</a:t>
            </a:r>
            <a:endParaRPr lang="en-US" sz="2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FC8154E-9F1F-0380-B280-C8B635F4D46E}"/>
              </a:ext>
            </a:extLst>
          </p:cNvPr>
          <p:cNvSpPr/>
          <p:nvPr/>
        </p:nvSpPr>
        <p:spPr>
          <a:xfrm>
            <a:off x="6507004" y="618720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29 total features.</a:t>
            </a:r>
            <a:endParaRPr lang="en-US" sz="175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A8CE36B-EA9C-1405-E5CC-DCAE6C77F970}"/>
              </a:ext>
            </a:extLst>
          </p:cNvPr>
          <p:cNvSpPr/>
          <p:nvPr/>
        </p:nvSpPr>
        <p:spPr>
          <a:xfrm>
            <a:off x="6507004" y="668619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Temporal, lagged sales, rolling statistics, price metrics.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743362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DB095-DBAF-53AD-566A-A4980B925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4D9816-97CE-1878-3902-9177B2F3E953}"/>
              </a:ext>
            </a:extLst>
          </p:cNvPr>
          <p:cNvSpPr/>
          <p:nvPr/>
        </p:nvSpPr>
        <p:spPr>
          <a:xfrm>
            <a:off x="793790" y="728782"/>
            <a:ext cx="809422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Modeling Approach &amp; Validation</a:t>
            </a:r>
            <a:endParaRPr lang="en-US" sz="37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4670E43-E821-D660-0337-DC75DFE5D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1716762"/>
            <a:ext cx="963930" cy="1156811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727336B-195A-2EB5-D86D-C529EF726651}"/>
              </a:ext>
            </a:extLst>
          </p:cNvPr>
          <p:cNvSpPr/>
          <p:nvPr/>
        </p:nvSpPr>
        <p:spPr>
          <a:xfrm>
            <a:off x="2046922" y="1909524"/>
            <a:ext cx="259580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Construction</a:t>
            </a:r>
            <a:endParaRPr lang="en-US" sz="18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0CAC403-FEE7-770A-08D0-A9F9E7460CE4}"/>
              </a:ext>
            </a:extLst>
          </p:cNvPr>
          <p:cNvSpPr/>
          <p:nvPr/>
        </p:nvSpPr>
        <p:spPr>
          <a:xfrm>
            <a:off x="2046922" y="2326362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Shift Sales by –7 or –30 as targets.</a:t>
            </a:r>
            <a:endParaRPr lang="en-US" sz="150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FCEAC97F-934E-1258-D4B5-1B04CC422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73573"/>
            <a:ext cx="963930" cy="1156811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78B6FB5F-4BF6-82F2-50DA-DB96A424A0A5}"/>
              </a:ext>
            </a:extLst>
          </p:cNvPr>
          <p:cNvSpPr/>
          <p:nvPr/>
        </p:nvSpPr>
        <p:spPr>
          <a:xfrm>
            <a:off x="2046922" y="306633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Train/Test Split</a:t>
            </a:r>
            <a:endParaRPr lang="en-US" sz="18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799A56D-DE60-A275-8ED8-56275F3C4821}"/>
              </a:ext>
            </a:extLst>
          </p:cNvPr>
          <p:cNvSpPr/>
          <p:nvPr/>
        </p:nvSpPr>
        <p:spPr>
          <a:xfrm>
            <a:off x="2046922" y="3483173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Chronological 80% train / 20% test.</a:t>
            </a:r>
            <a:endParaRPr lang="en-US" sz="15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A32824D-849E-0FEB-D95C-D05109718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030385"/>
            <a:ext cx="963930" cy="1156811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20B4AF15-B6B7-718C-C92D-FCF285F295D4}"/>
              </a:ext>
            </a:extLst>
          </p:cNvPr>
          <p:cNvSpPr/>
          <p:nvPr/>
        </p:nvSpPr>
        <p:spPr>
          <a:xfrm>
            <a:off x="2046922" y="4223147"/>
            <a:ext cx="327624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Cross-Validation &amp; Tuning</a:t>
            </a:r>
            <a:endParaRPr lang="en-US" sz="185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EDE08B2-F707-B89F-D5B8-EDFF7059EB0B}"/>
              </a:ext>
            </a:extLst>
          </p:cNvPr>
          <p:cNvSpPr/>
          <p:nvPr/>
        </p:nvSpPr>
        <p:spPr>
          <a:xfrm>
            <a:off x="2046922" y="4639985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TimeSeriesSplit, Grid Search for XGBoost.</a:t>
            </a:r>
            <a:endParaRPr lang="en-US" sz="150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63CA340D-FED2-3F1B-609E-C6B3AE0C7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187196"/>
            <a:ext cx="963930" cy="1156811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E1694649-38BC-995D-D2DB-8C498DA9EBD0}"/>
              </a:ext>
            </a:extLst>
          </p:cNvPr>
          <p:cNvSpPr/>
          <p:nvPr/>
        </p:nvSpPr>
        <p:spPr>
          <a:xfrm>
            <a:off x="2046922" y="5379958"/>
            <a:ext cx="260937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Final Model Training</a:t>
            </a:r>
            <a:endParaRPr lang="en-US" sz="185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9C646A23-F127-5C31-2A09-97C60BFC4962}"/>
              </a:ext>
            </a:extLst>
          </p:cNvPr>
          <p:cNvSpPr/>
          <p:nvPr/>
        </p:nvSpPr>
        <p:spPr>
          <a:xfrm>
            <a:off x="2046922" y="5796796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Fit two XGBoost regressors.</a:t>
            </a:r>
            <a:endParaRPr lang="en-US" sz="1500" dirty="0"/>
          </a:p>
        </p:txBody>
      </p:sp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CA01F537-B27A-4FF0-C64D-AD774049B5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6344007"/>
            <a:ext cx="963930" cy="1156811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B44F7145-976B-F4A2-D0DD-1FAFF8E08BD7}"/>
              </a:ext>
            </a:extLst>
          </p:cNvPr>
          <p:cNvSpPr/>
          <p:nvPr/>
        </p:nvSpPr>
        <p:spPr>
          <a:xfrm>
            <a:off x="2046922" y="653676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Evaluation Metrics</a:t>
            </a:r>
            <a:endParaRPr lang="en-US" sz="185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24B90E2C-ECDD-D795-C2F2-7C65965482CB}"/>
              </a:ext>
            </a:extLst>
          </p:cNvPr>
          <p:cNvSpPr/>
          <p:nvPr/>
        </p:nvSpPr>
        <p:spPr>
          <a:xfrm>
            <a:off x="2046922" y="6953607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MAE, RMSE, MAPE, MPE, R².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842137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95196-703E-B91A-7842-5AA33036A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73B72ED-8EFC-D955-9672-FE9241A1CCB6}"/>
              </a:ext>
            </a:extLst>
          </p:cNvPr>
          <p:cNvSpPr/>
          <p:nvPr/>
        </p:nvSpPr>
        <p:spPr>
          <a:xfrm>
            <a:off x="793790" y="742593"/>
            <a:ext cx="9734788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Architecture &amp; Implementation</a:t>
            </a:r>
            <a:endParaRPr lang="en-US" sz="37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FC0877-E441-8E78-811E-028BE7715A43}"/>
              </a:ext>
            </a:extLst>
          </p:cNvPr>
          <p:cNvSpPr/>
          <p:nvPr/>
        </p:nvSpPr>
        <p:spPr>
          <a:xfrm>
            <a:off x="7303770" y="1730573"/>
            <a:ext cx="22860" cy="5756315"/>
          </a:xfrm>
          <a:prstGeom prst="roundRect">
            <a:avLst>
              <a:gd name="adj" fmla="val 126512"/>
            </a:avLst>
          </a:prstGeom>
          <a:solidFill>
            <a:srgbClr val="D0CED9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0CE5FEA-6530-B4DD-F89F-9D9230FFA379}"/>
              </a:ext>
            </a:extLst>
          </p:cNvPr>
          <p:cNvSpPr/>
          <p:nvPr/>
        </p:nvSpPr>
        <p:spPr>
          <a:xfrm>
            <a:off x="6542782" y="1935956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D0CED9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EE88ACF-3F54-0173-5CA9-4722976D0141}"/>
              </a:ext>
            </a:extLst>
          </p:cNvPr>
          <p:cNvSpPr/>
          <p:nvPr/>
        </p:nvSpPr>
        <p:spPr>
          <a:xfrm>
            <a:off x="7098328" y="1730573"/>
            <a:ext cx="433745" cy="433745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85946C2-BC3D-3594-548A-64109BA67BCF}"/>
              </a:ext>
            </a:extLst>
          </p:cNvPr>
          <p:cNvSpPr/>
          <p:nvPr/>
        </p:nvSpPr>
        <p:spPr>
          <a:xfrm>
            <a:off x="7170539" y="1766649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31A1D70-F91C-DB0F-FD1B-45404DE42553}"/>
              </a:ext>
            </a:extLst>
          </p:cNvPr>
          <p:cNvSpPr/>
          <p:nvPr/>
        </p:nvSpPr>
        <p:spPr>
          <a:xfrm>
            <a:off x="3941326" y="179677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Layer</a:t>
            </a:r>
            <a:endParaRPr lang="en-US" sz="1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CCD7C91-B51A-DD37-7687-46142F4A724B}"/>
              </a:ext>
            </a:extLst>
          </p:cNvPr>
          <p:cNvSpPr/>
          <p:nvPr/>
        </p:nvSpPr>
        <p:spPr>
          <a:xfrm>
            <a:off x="793790" y="2213610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Raw CSV, Product store, Audit logs.</a:t>
            </a:r>
            <a:endParaRPr lang="en-US" sz="15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7123942-7976-EF5B-F8CD-A6B9EA76C0BA}"/>
              </a:ext>
            </a:extLst>
          </p:cNvPr>
          <p:cNvSpPr/>
          <p:nvPr/>
        </p:nvSpPr>
        <p:spPr>
          <a:xfrm>
            <a:off x="7509212" y="3092648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D0CED9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C8C6E09-8CEC-53E5-77BE-2028C738778C}"/>
              </a:ext>
            </a:extLst>
          </p:cNvPr>
          <p:cNvSpPr/>
          <p:nvPr/>
        </p:nvSpPr>
        <p:spPr>
          <a:xfrm>
            <a:off x="7098328" y="2887266"/>
            <a:ext cx="433745" cy="433745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CD32D41-30EB-706B-54E6-0B3F0A2E4873}"/>
              </a:ext>
            </a:extLst>
          </p:cNvPr>
          <p:cNvSpPr/>
          <p:nvPr/>
        </p:nvSpPr>
        <p:spPr>
          <a:xfrm>
            <a:off x="7170539" y="2923342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4C4FE72-E219-29A5-088C-0D84F45AA9E3}"/>
              </a:ext>
            </a:extLst>
          </p:cNvPr>
          <p:cNvSpPr/>
          <p:nvPr/>
        </p:nvSpPr>
        <p:spPr>
          <a:xfrm>
            <a:off x="8279130" y="2953464"/>
            <a:ext cx="417183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Processing &amp; Feature Engineering</a:t>
            </a:r>
            <a:endParaRPr lang="en-US" sz="18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CB9E7C8-8E5A-E640-AE8A-69E1E3BE426C}"/>
              </a:ext>
            </a:extLst>
          </p:cNvPr>
          <p:cNvSpPr/>
          <p:nvPr/>
        </p:nvSpPr>
        <p:spPr>
          <a:xfrm>
            <a:off x="8279130" y="3370302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Pandas-based modules.</a:t>
            </a:r>
            <a:endParaRPr lang="en-US" sz="15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9316BF1-4ACF-46C0-928E-040E5781EE4B}"/>
              </a:ext>
            </a:extLst>
          </p:cNvPr>
          <p:cNvSpPr/>
          <p:nvPr/>
        </p:nvSpPr>
        <p:spPr>
          <a:xfrm>
            <a:off x="6542782" y="4089678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D0CED9"/>
          </a:solidFill>
          <a:ln/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579F8D2-88DC-A607-F7C1-1E406EFD691A}"/>
              </a:ext>
            </a:extLst>
          </p:cNvPr>
          <p:cNvSpPr/>
          <p:nvPr/>
        </p:nvSpPr>
        <p:spPr>
          <a:xfrm>
            <a:off x="7098328" y="3884295"/>
            <a:ext cx="433745" cy="433745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CEE051C-059D-EA50-62AD-D94F3A658061}"/>
              </a:ext>
            </a:extLst>
          </p:cNvPr>
          <p:cNvSpPr/>
          <p:nvPr/>
        </p:nvSpPr>
        <p:spPr>
          <a:xfrm>
            <a:off x="7170539" y="3920371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6253DAC-4B20-ED6E-3BB9-BCEFAA18B089}"/>
              </a:ext>
            </a:extLst>
          </p:cNvPr>
          <p:cNvSpPr/>
          <p:nvPr/>
        </p:nvSpPr>
        <p:spPr>
          <a:xfrm>
            <a:off x="3761899" y="3950494"/>
            <a:ext cx="258937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Modeling &amp; Training</a:t>
            </a:r>
            <a:endParaRPr lang="en-US" sz="18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493B58B-4B92-BDE5-AE03-56B25B86A3BE}"/>
              </a:ext>
            </a:extLst>
          </p:cNvPr>
          <p:cNvSpPr/>
          <p:nvPr/>
        </p:nvSpPr>
        <p:spPr>
          <a:xfrm>
            <a:off x="793790" y="4367332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XGBoost, TimeSeriesSplit CV, model serialization.</a:t>
            </a:r>
            <a:endParaRPr lang="en-US" sz="15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87A6FC5-F9A7-469C-2DFA-5CF22B7DE832}"/>
              </a:ext>
            </a:extLst>
          </p:cNvPr>
          <p:cNvSpPr/>
          <p:nvPr/>
        </p:nvSpPr>
        <p:spPr>
          <a:xfrm>
            <a:off x="7509212" y="5086707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D0CED9"/>
          </a:solidFill>
          <a:ln/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C02F3AF-F1E9-42A9-2EEF-C6E40D7026D9}"/>
              </a:ext>
            </a:extLst>
          </p:cNvPr>
          <p:cNvSpPr/>
          <p:nvPr/>
        </p:nvSpPr>
        <p:spPr>
          <a:xfrm>
            <a:off x="7098328" y="4881324"/>
            <a:ext cx="433745" cy="433745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82FDF6F-6686-04B6-48AD-F77DE3E3F097}"/>
              </a:ext>
            </a:extLst>
          </p:cNvPr>
          <p:cNvSpPr/>
          <p:nvPr/>
        </p:nvSpPr>
        <p:spPr>
          <a:xfrm>
            <a:off x="7170539" y="4917400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27FBA09-70AF-4967-2F95-7572875223CC}"/>
              </a:ext>
            </a:extLst>
          </p:cNvPr>
          <p:cNvSpPr/>
          <p:nvPr/>
        </p:nvSpPr>
        <p:spPr>
          <a:xfrm>
            <a:off x="8279130" y="4947523"/>
            <a:ext cx="321385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API &amp; Deployment (Flask)</a:t>
            </a:r>
            <a:endParaRPr lang="en-US" sz="18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F27E4B4-7363-9855-891C-9B1D9433CAB5}"/>
              </a:ext>
            </a:extLst>
          </p:cNvPr>
          <p:cNvSpPr/>
          <p:nvPr/>
        </p:nvSpPr>
        <p:spPr>
          <a:xfrm>
            <a:off x="8279130" y="5364361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JWT auth, endpoints, inference pipeline.</a:t>
            </a:r>
            <a:endParaRPr lang="en-US" sz="15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0B8365C-AE4A-3801-F9B8-7342C0CDF3C1}"/>
              </a:ext>
            </a:extLst>
          </p:cNvPr>
          <p:cNvSpPr/>
          <p:nvPr/>
        </p:nvSpPr>
        <p:spPr>
          <a:xfrm>
            <a:off x="6542782" y="6083737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D0CED9"/>
          </a:solidFill>
          <a:ln/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8663E1F-964C-ABB7-1993-8A0C6F0F79FE}"/>
              </a:ext>
            </a:extLst>
          </p:cNvPr>
          <p:cNvSpPr/>
          <p:nvPr/>
        </p:nvSpPr>
        <p:spPr>
          <a:xfrm>
            <a:off x="7098328" y="5878354"/>
            <a:ext cx="433745" cy="433745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631EEF4-A843-6E15-0D51-5521F779A975}"/>
              </a:ext>
            </a:extLst>
          </p:cNvPr>
          <p:cNvSpPr/>
          <p:nvPr/>
        </p:nvSpPr>
        <p:spPr>
          <a:xfrm>
            <a:off x="7170539" y="5914430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383638C-EA08-E1EF-4025-EAA28E7011D9}"/>
              </a:ext>
            </a:extLst>
          </p:cNvPr>
          <p:cNvSpPr/>
          <p:nvPr/>
        </p:nvSpPr>
        <p:spPr>
          <a:xfrm>
            <a:off x="3210401" y="5944553"/>
            <a:ext cx="314086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Client Layer (Flutter App)</a:t>
            </a:r>
            <a:endParaRPr lang="en-US" sz="18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ED671FB-356F-F79A-7F6F-3963A8A764D8}"/>
              </a:ext>
            </a:extLst>
          </p:cNvPr>
          <p:cNvSpPr/>
          <p:nvPr/>
        </p:nvSpPr>
        <p:spPr>
          <a:xfrm>
            <a:off x="793790" y="6361390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Authentication UI, Forecast Dashboard.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830863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E0CEB-6700-7BAC-5296-D39FE4B54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56357EB-1179-8156-1569-367E735AB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FC9501B-28CC-52C8-DC9B-4CA2992634CA}"/>
              </a:ext>
            </a:extLst>
          </p:cNvPr>
          <p:cNvSpPr/>
          <p:nvPr/>
        </p:nvSpPr>
        <p:spPr>
          <a:xfrm>
            <a:off x="4451390" y="1624370"/>
            <a:ext cx="61693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Mobile App Interface</a:t>
            </a:r>
            <a:endParaRPr lang="en-US" sz="44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A32ABBB-59CB-6D8A-1A87-2BEE5C8BAD92}"/>
              </a:ext>
            </a:extLst>
          </p:cNvPr>
          <p:cNvSpPr/>
          <p:nvPr/>
        </p:nvSpPr>
        <p:spPr>
          <a:xfrm>
            <a:off x="4451390" y="2900124"/>
            <a:ext cx="27590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Authentication Flow</a:t>
            </a:r>
            <a:endParaRPr lang="en-US" sz="2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3EDED9B-82DB-A78B-0B6F-4CDD020B876F}"/>
              </a:ext>
            </a:extLst>
          </p:cNvPr>
          <p:cNvSpPr/>
          <p:nvPr/>
        </p:nvSpPr>
        <p:spPr>
          <a:xfrm>
            <a:off x="4451390" y="3835598"/>
            <a:ext cx="2759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Login screen, JWT via /login.</a:t>
            </a:r>
            <a:endParaRPr lang="en-US" sz="1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8758C5F-7464-EC99-D865-5197EFB20F4A}"/>
              </a:ext>
            </a:extLst>
          </p:cNvPr>
          <p:cNvSpPr/>
          <p:nvPr/>
        </p:nvSpPr>
        <p:spPr>
          <a:xfrm>
            <a:off x="4451390" y="4640699"/>
            <a:ext cx="2759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storage: Flutter Secure Storage.</a:t>
            </a:r>
            <a:endParaRPr lang="en-US" sz="17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29520DF-2F4A-38EF-DBD8-D95BE3BA85D1}"/>
              </a:ext>
            </a:extLst>
          </p:cNvPr>
          <p:cNvSpPr/>
          <p:nvPr/>
        </p:nvSpPr>
        <p:spPr>
          <a:xfrm>
            <a:off x="7771448" y="2900124"/>
            <a:ext cx="27590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Forecast Dashboard</a:t>
            </a:r>
            <a:endParaRPr lang="en-US" sz="2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8B93A4E-338B-0D39-F639-0F8097C1501E}"/>
              </a:ext>
            </a:extLst>
          </p:cNvPr>
          <p:cNvSpPr/>
          <p:nvPr/>
        </p:nvSpPr>
        <p:spPr>
          <a:xfrm>
            <a:off x="7771448" y="3835598"/>
            <a:ext cx="2759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horizon: Week/Month-Ahead.</a:t>
            </a:r>
            <a:endParaRPr lang="en-US" sz="17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B8F9DC1-33F7-F52E-D8B5-2290131E3409}"/>
              </a:ext>
            </a:extLst>
          </p:cNvPr>
          <p:cNvSpPr/>
          <p:nvPr/>
        </p:nvSpPr>
        <p:spPr>
          <a:xfrm>
            <a:off x="7771448" y="4640699"/>
            <a:ext cx="2759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line chart, tooltips, pan/zoom.</a:t>
            </a:r>
            <a:endParaRPr lang="en-US" sz="17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29540B0-AE4E-5EDF-ACB9-FDF91C729D19}"/>
              </a:ext>
            </a:extLst>
          </p:cNvPr>
          <p:cNvSpPr/>
          <p:nvPr/>
        </p:nvSpPr>
        <p:spPr>
          <a:xfrm>
            <a:off x="7771448" y="5445800"/>
            <a:ext cx="2759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Offline mode: cached data banner.</a:t>
            </a:r>
            <a:endParaRPr lang="en-US" sz="17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C5BD440-8A6D-9BA3-C093-767892A1BFC7}"/>
              </a:ext>
            </a:extLst>
          </p:cNvPr>
          <p:cNvSpPr/>
          <p:nvPr/>
        </p:nvSpPr>
        <p:spPr>
          <a:xfrm>
            <a:off x="11091505" y="2900124"/>
            <a:ext cx="2759035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Management (Admin)</a:t>
            </a:r>
            <a:endParaRPr lang="en-US" sz="2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275F870-1CF9-7E23-2C51-68CF4C12839E}"/>
              </a:ext>
            </a:extLst>
          </p:cNvPr>
          <p:cNvSpPr/>
          <p:nvPr/>
        </p:nvSpPr>
        <p:spPr>
          <a:xfrm>
            <a:off x="11091505" y="4189928"/>
            <a:ext cx="2759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List: ListView with Edit/Delete.</a:t>
            </a:r>
            <a:endParaRPr lang="en-US" sz="17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2FEFF53-9FD1-B7AA-979D-64AEC209398D}"/>
              </a:ext>
            </a:extLst>
          </p:cNvPr>
          <p:cNvSpPr/>
          <p:nvPr/>
        </p:nvSpPr>
        <p:spPr>
          <a:xfrm>
            <a:off x="11091505" y="4995029"/>
            <a:ext cx="2759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Create/Edit screens: Form fields, validation.</a:t>
            </a:r>
            <a:endParaRPr lang="en-US" sz="17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FBA13B9-FA06-A61A-18E1-E45C652EA9D3}"/>
              </a:ext>
            </a:extLst>
          </p:cNvPr>
          <p:cNvSpPr/>
          <p:nvPr/>
        </p:nvSpPr>
        <p:spPr>
          <a:xfrm>
            <a:off x="11091505" y="5800130"/>
            <a:ext cx="2759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Confirmation dialogs, snackbars.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431012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C61A6-76B7-9A00-C3C7-496C46282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805CA18-EAE5-AE85-73AD-4344FD407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26826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F0D2C01-3ECF-AA6F-80E0-CF3CA4F1BD86}"/>
              </a:ext>
            </a:extLst>
          </p:cNvPr>
          <p:cNvSpPr/>
          <p:nvPr/>
        </p:nvSpPr>
        <p:spPr>
          <a:xfrm>
            <a:off x="793790" y="2958227"/>
            <a:ext cx="719316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Results &amp; Performance Metrics</a:t>
            </a:r>
            <a:endParaRPr lang="en-US" sz="35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1732702-8946-CB37-3C1B-1BC671D36534}"/>
              </a:ext>
            </a:extLst>
          </p:cNvPr>
          <p:cNvSpPr/>
          <p:nvPr/>
        </p:nvSpPr>
        <p:spPr>
          <a:xfrm>
            <a:off x="793790" y="3888105"/>
            <a:ext cx="6385322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0.781</a:t>
            </a:r>
            <a:endParaRPr lang="en-US" sz="47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7594523-95BB-881A-9A3D-BE844A94DC72}"/>
              </a:ext>
            </a:extLst>
          </p:cNvPr>
          <p:cNvSpPr/>
          <p:nvPr/>
        </p:nvSpPr>
        <p:spPr>
          <a:xfrm>
            <a:off x="2852261" y="471368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Week-Ahead R²</a:t>
            </a:r>
            <a:endParaRPr lang="en-US" sz="1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1C23744-CA4A-4193-2639-A544CE4AE879}"/>
              </a:ext>
            </a:extLst>
          </p:cNvPr>
          <p:cNvSpPr/>
          <p:nvPr/>
        </p:nvSpPr>
        <p:spPr>
          <a:xfrm>
            <a:off x="793790" y="5105995"/>
            <a:ext cx="638532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MAPE = 8.19%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CC9A468-AE7A-8AAC-63B5-296F8D9C45CB}"/>
              </a:ext>
            </a:extLst>
          </p:cNvPr>
          <p:cNvSpPr/>
          <p:nvPr/>
        </p:nvSpPr>
        <p:spPr>
          <a:xfrm>
            <a:off x="7451288" y="3888105"/>
            <a:ext cx="6385322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0.723</a:t>
            </a:r>
            <a:endParaRPr lang="en-US" sz="47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7A7E367-D680-63EE-63AE-0DD3F6C8F159}"/>
              </a:ext>
            </a:extLst>
          </p:cNvPr>
          <p:cNvSpPr/>
          <p:nvPr/>
        </p:nvSpPr>
        <p:spPr>
          <a:xfrm>
            <a:off x="9509760" y="471368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Month-Ahead R²</a:t>
            </a:r>
            <a:endParaRPr lang="en-US" sz="17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740AE9F-CDA6-C37E-E616-6D892FE7CADE}"/>
              </a:ext>
            </a:extLst>
          </p:cNvPr>
          <p:cNvSpPr/>
          <p:nvPr/>
        </p:nvSpPr>
        <p:spPr>
          <a:xfrm>
            <a:off x="7451288" y="5105995"/>
            <a:ext cx="638532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MAPE = 12.47%</a:t>
            </a:r>
            <a:endParaRPr lang="en-US" sz="1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2FF96C3-EE5C-E77C-24CA-26CCAA0E64C3}"/>
              </a:ext>
            </a:extLst>
          </p:cNvPr>
          <p:cNvSpPr/>
          <p:nvPr/>
        </p:nvSpPr>
        <p:spPr>
          <a:xfrm>
            <a:off x="793790" y="6031349"/>
            <a:ext cx="6385322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125ms</a:t>
            </a:r>
            <a:endParaRPr lang="en-US" sz="47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ADB0FB8-4DF3-9B04-73C4-11733F51C44F}"/>
              </a:ext>
            </a:extLst>
          </p:cNvPr>
          <p:cNvSpPr/>
          <p:nvPr/>
        </p:nvSpPr>
        <p:spPr>
          <a:xfrm>
            <a:off x="2852261" y="685692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Median Latency</a:t>
            </a:r>
            <a:endParaRPr lang="en-US" sz="17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A29C727-C6D0-C0E0-4640-96E3F32B2EC0}"/>
              </a:ext>
            </a:extLst>
          </p:cNvPr>
          <p:cNvSpPr/>
          <p:nvPr/>
        </p:nvSpPr>
        <p:spPr>
          <a:xfrm>
            <a:off x="793790" y="7249239"/>
            <a:ext cx="638532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Meets target &lt; 200 ms.</a:t>
            </a:r>
            <a:endParaRPr lang="en-US" sz="14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28485F4-733E-012D-01FB-F36AEAEFABBE}"/>
              </a:ext>
            </a:extLst>
          </p:cNvPr>
          <p:cNvSpPr/>
          <p:nvPr/>
        </p:nvSpPr>
        <p:spPr>
          <a:xfrm>
            <a:off x="7451288" y="6031349"/>
            <a:ext cx="6385322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99.7%</a:t>
            </a:r>
            <a:endParaRPr lang="en-US" sz="47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FBD6DED-8777-F906-A401-5034B1B445E0}"/>
              </a:ext>
            </a:extLst>
          </p:cNvPr>
          <p:cNvSpPr/>
          <p:nvPr/>
        </p:nvSpPr>
        <p:spPr>
          <a:xfrm>
            <a:off x="9509760" y="685692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API Uptime</a:t>
            </a:r>
            <a:endParaRPr lang="en-US" sz="175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DDFCE09-A27E-E3CC-778A-33526EDAA767}"/>
              </a:ext>
            </a:extLst>
          </p:cNvPr>
          <p:cNvSpPr/>
          <p:nvPr/>
        </p:nvSpPr>
        <p:spPr>
          <a:xfrm>
            <a:off x="7451288" y="7249239"/>
            <a:ext cx="638532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Error rates &lt; 0.5%.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81584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E4EA4-DC7C-5E63-30EC-5F9ECA130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443BBC-4ADA-EB0D-83F5-4B2F9569A51C}"/>
              </a:ext>
            </a:extLst>
          </p:cNvPr>
          <p:cNvSpPr/>
          <p:nvPr/>
        </p:nvSpPr>
        <p:spPr>
          <a:xfrm>
            <a:off x="793790" y="1978700"/>
            <a:ext cx="80726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Conclusions &amp; Future Work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78322BE-D30D-E891-A978-BEA6A673AF62}"/>
              </a:ext>
            </a:extLst>
          </p:cNvPr>
          <p:cNvSpPr/>
          <p:nvPr/>
        </p:nvSpPr>
        <p:spPr>
          <a:xfrm>
            <a:off x="793790" y="32544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DB4694-A4BE-B0CE-01F2-7B9CEC175C3E}"/>
              </a:ext>
            </a:extLst>
          </p:cNvPr>
          <p:cNvSpPr/>
          <p:nvPr/>
        </p:nvSpPr>
        <p:spPr>
          <a:xfrm>
            <a:off x="793790" y="383559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sales forecasting pipeline built.</a:t>
            </a:r>
            <a:endParaRPr lang="en-US" sz="1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2F2873-E95C-EB9A-8914-D3714B1C997A}"/>
              </a:ext>
            </a:extLst>
          </p:cNvPr>
          <p:cNvSpPr/>
          <p:nvPr/>
        </p:nvSpPr>
        <p:spPr>
          <a:xfrm>
            <a:off x="793790" y="427779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accuracy: week &lt;10% MAPE, month &lt;15% MAPE.</a:t>
            </a:r>
            <a:endParaRPr lang="en-US" sz="1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2156FE1-7925-6E52-B4AC-8CA5B87C9BAA}"/>
              </a:ext>
            </a:extLst>
          </p:cNvPr>
          <p:cNvSpPr/>
          <p:nvPr/>
        </p:nvSpPr>
        <p:spPr>
          <a:xfrm>
            <a:off x="793790" y="471999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Low-latency inference met (&lt;200 ms).</a:t>
            </a:r>
            <a:endParaRPr lang="en-US" sz="1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2DFBBD3-A837-5868-DD67-B975CF30D90F}"/>
              </a:ext>
            </a:extLst>
          </p:cNvPr>
          <p:cNvSpPr/>
          <p:nvPr/>
        </p:nvSpPr>
        <p:spPr>
          <a:xfrm>
            <a:off x="793790" y="516219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Intuitive mobile app, offline support, admin CRUD.</a:t>
            </a:r>
            <a:endParaRPr lang="en-US" sz="17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4506F3C-591B-08D1-58F2-8443A1EC35BB}"/>
              </a:ext>
            </a:extLst>
          </p:cNvPr>
          <p:cNvSpPr/>
          <p:nvPr/>
        </p:nvSpPr>
        <p:spPr>
          <a:xfrm>
            <a:off x="793790" y="560439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design meets goals.</a:t>
            </a:r>
            <a:endParaRPr lang="en-US" sz="17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C799D52-DAA8-C129-4470-0E91AB84C184}"/>
              </a:ext>
            </a:extLst>
          </p:cNvPr>
          <p:cNvSpPr/>
          <p:nvPr/>
        </p:nvSpPr>
        <p:spPr>
          <a:xfrm>
            <a:off x="7599521" y="32544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4B2FFC7-09BA-3CA5-1E30-4CF409311567}"/>
              </a:ext>
            </a:extLst>
          </p:cNvPr>
          <p:cNvSpPr/>
          <p:nvPr/>
        </p:nvSpPr>
        <p:spPr>
          <a:xfrm>
            <a:off x="7599521" y="383559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Models: XGBoost + LSTM/RNN, Bayesian optimization.</a:t>
            </a:r>
            <a:endParaRPr lang="en-US" sz="17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2312A17-6539-9E7E-4441-EB76740ECADD}"/>
              </a:ext>
            </a:extLst>
          </p:cNvPr>
          <p:cNvSpPr/>
          <p:nvPr/>
        </p:nvSpPr>
        <p:spPr>
          <a:xfrm>
            <a:off x="7599521" y="464069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Scalable Deployment: Kubernetes, autoscaling, managed hosting.</a:t>
            </a:r>
            <a:endParaRPr lang="en-US" sz="17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C669515-4B2B-8CE4-5BB3-729FE395904A}"/>
              </a:ext>
            </a:extLst>
          </p:cNvPr>
          <p:cNvSpPr/>
          <p:nvPr/>
        </p:nvSpPr>
        <p:spPr>
          <a:xfrm>
            <a:off x="7599521" y="544580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Explainability &amp; Monitoring: SHAP/LIME, Prometheus/Grafana.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4230563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30169-922C-CD8D-3343-94E1827B0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BBD08BA-F5E9-EF7E-6F39-BA7CF001D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4D18476-951F-00EE-EA29-B5722B9E293E}"/>
              </a:ext>
            </a:extLst>
          </p:cNvPr>
          <p:cNvSpPr/>
          <p:nvPr/>
        </p:nvSpPr>
        <p:spPr>
          <a:xfrm>
            <a:off x="6280190" y="3760351"/>
            <a:ext cx="61352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Questions &amp; Answers</a:t>
            </a:r>
            <a:endParaRPr lang="en-US" sz="4450" dirty="0"/>
          </a:p>
        </p:txBody>
      </p:sp>
    </p:spTree>
    <p:extLst>
      <p:ext uri="{BB962C8B-B14F-4D97-AF65-F5344CB8AC3E}">
        <p14:creationId xmlns:p14="http://schemas.microsoft.com/office/powerpoint/2010/main" val="196624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</TotalTime>
  <Words>490</Words>
  <Application>Microsoft Office PowerPoint</Application>
  <PresentationFormat>Custom</PresentationFormat>
  <Paragraphs>106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Libre Baskerville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 Vastre</dc:creator>
  <cp:lastModifiedBy>Om Vastre</cp:lastModifiedBy>
  <cp:revision>1</cp:revision>
  <dcterms:created xsi:type="dcterms:W3CDTF">2025-06-06T20:17:47Z</dcterms:created>
  <dcterms:modified xsi:type="dcterms:W3CDTF">2025-06-06T20:22:02Z</dcterms:modified>
</cp:coreProperties>
</file>